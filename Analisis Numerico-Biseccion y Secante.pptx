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relia" charset="1" panose="00000500000000000000"/>
      <p:regular r:id="rId13"/>
    </p:embeddedFont>
    <p:embeddedFont>
      <p:font typeface="Montserrat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43.png" Type="http://schemas.openxmlformats.org/officeDocument/2006/relationships/image"/><Relationship Id="rId15" Target="../media/image4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282" y="1013776"/>
            <a:ext cx="7827435" cy="7827435"/>
          </a:xfrm>
          <a:custGeom>
            <a:avLst/>
            <a:gdLst/>
            <a:ahLst/>
            <a:cxnLst/>
            <a:rect r="r" b="b" t="t" l="l"/>
            <a:pathLst>
              <a:path h="7827435" w="7827435">
                <a:moveTo>
                  <a:pt x="0" y="0"/>
                </a:moveTo>
                <a:lnTo>
                  <a:pt x="7827436" y="0"/>
                </a:lnTo>
                <a:lnTo>
                  <a:pt x="7827436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63710" y="6163110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7"/>
                </a:lnTo>
                <a:lnTo>
                  <a:pt x="0" y="461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86949" y="5692666"/>
            <a:ext cx="5009073" cy="4744958"/>
          </a:xfrm>
          <a:custGeom>
            <a:avLst/>
            <a:gdLst/>
            <a:ahLst/>
            <a:cxnLst/>
            <a:rect r="r" b="b" t="t" l="l"/>
            <a:pathLst>
              <a:path h="4744958" w="5009073">
                <a:moveTo>
                  <a:pt x="0" y="0"/>
                </a:moveTo>
                <a:lnTo>
                  <a:pt x="5009074" y="0"/>
                </a:lnTo>
                <a:lnTo>
                  <a:pt x="5009074" y="4744959"/>
                </a:lnTo>
                <a:lnTo>
                  <a:pt x="0" y="4744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77941">
            <a:off x="-652915" y="6859018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7" y="0"/>
                </a:lnTo>
                <a:lnTo>
                  <a:pt x="44029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0981" y="-711888"/>
            <a:ext cx="3725764" cy="4114800"/>
          </a:xfrm>
          <a:custGeom>
            <a:avLst/>
            <a:gdLst/>
            <a:ahLst/>
            <a:cxnLst/>
            <a:rect r="r" b="b" t="t" l="l"/>
            <a:pathLst>
              <a:path h="4114800" w="3725764">
                <a:moveTo>
                  <a:pt x="0" y="0"/>
                </a:moveTo>
                <a:lnTo>
                  <a:pt x="3725764" y="0"/>
                </a:lnTo>
                <a:lnTo>
                  <a:pt x="3725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86048" y="7548011"/>
            <a:ext cx="2834933" cy="2572057"/>
          </a:xfrm>
          <a:custGeom>
            <a:avLst/>
            <a:gdLst/>
            <a:ahLst/>
            <a:cxnLst/>
            <a:rect r="r" b="b" t="t" l="l"/>
            <a:pathLst>
              <a:path h="2572057" w="2834933">
                <a:moveTo>
                  <a:pt x="0" y="0"/>
                </a:moveTo>
                <a:lnTo>
                  <a:pt x="2834933" y="0"/>
                </a:lnTo>
                <a:lnTo>
                  <a:pt x="2834933" y="2572058"/>
                </a:lnTo>
                <a:lnTo>
                  <a:pt x="0" y="2572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7185">
            <a:off x="3102614" y="7394046"/>
            <a:ext cx="2551459" cy="2688319"/>
          </a:xfrm>
          <a:custGeom>
            <a:avLst/>
            <a:gdLst/>
            <a:ahLst/>
            <a:cxnLst/>
            <a:rect r="r" b="b" t="t" l="l"/>
            <a:pathLst>
              <a:path h="2688319" w="2551459">
                <a:moveTo>
                  <a:pt x="0" y="0"/>
                </a:moveTo>
                <a:lnTo>
                  <a:pt x="2551460" y="0"/>
                </a:lnTo>
                <a:lnTo>
                  <a:pt x="2551460" y="2688319"/>
                </a:lnTo>
                <a:lnTo>
                  <a:pt x="0" y="26883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72354" y="-711888"/>
            <a:ext cx="3739373" cy="3739373"/>
          </a:xfrm>
          <a:custGeom>
            <a:avLst/>
            <a:gdLst/>
            <a:ahLst/>
            <a:cxnLst/>
            <a:rect r="r" b="b" t="t" l="l"/>
            <a:pathLst>
              <a:path h="3739373" w="3739373">
                <a:moveTo>
                  <a:pt x="0" y="0"/>
                </a:moveTo>
                <a:lnTo>
                  <a:pt x="3739373" y="0"/>
                </a:lnTo>
                <a:lnTo>
                  <a:pt x="3739373" y="3739374"/>
                </a:lnTo>
                <a:lnTo>
                  <a:pt x="0" y="37393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11544" y="393838"/>
            <a:ext cx="1889507" cy="1903349"/>
          </a:xfrm>
          <a:custGeom>
            <a:avLst/>
            <a:gdLst/>
            <a:ahLst/>
            <a:cxnLst/>
            <a:rect r="r" b="b" t="t" l="l"/>
            <a:pathLst>
              <a:path h="1903349" w="1889507">
                <a:moveTo>
                  <a:pt x="0" y="0"/>
                </a:moveTo>
                <a:lnTo>
                  <a:pt x="1889507" y="0"/>
                </a:lnTo>
                <a:lnTo>
                  <a:pt x="1889507" y="1903349"/>
                </a:lnTo>
                <a:lnTo>
                  <a:pt x="0" y="190334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17930">
            <a:off x="14980542" y="330918"/>
            <a:ext cx="1413053" cy="2029188"/>
          </a:xfrm>
          <a:custGeom>
            <a:avLst/>
            <a:gdLst/>
            <a:ahLst/>
            <a:cxnLst/>
            <a:rect r="r" b="b" t="t" l="l"/>
            <a:pathLst>
              <a:path h="2029188" w="1413053">
                <a:moveTo>
                  <a:pt x="0" y="0"/>
                </a:moveTo>
                <a:lnTo>
                  <a:pt x="1413052" y="0"/>
                </a:lnTo>
                <a:lnTo>
                  <a:pt x="1413052" y="2029188"/>
                </a:lnTo>
                <a:lnTo>
                  <a:pt x="0" y="20291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5720" y="3065216"/>
            <a:ext cx="16516561" cy="146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4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Metodos Numérico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01051" y="5048250"/>
            <a:ext cx="10085899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86911" y="6843632"/>
            <a:ext cx="3714177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Jeremy González 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Félix Samudio 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José Urrunaga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26514" y="585944"/>
            <a:ext cx="9355306" cy="9355306"/>
          </a:xfrm>
          <a:custGeom>
            <a:avLst/>
            <a:gdLst/>
            <a:ahLst/>
            <a:cxnLst/>
            <a:rect r="r" b="b" t="t" l="l"/>
            <a:pathLst>
              <a:path h="9355306" w="9355306">
                <a:moveTo>
                  <a:pt x="0" y="0"/>
                </a:moveTo>
                <a:lnTo>
                  <a:pt x="9355306" y="0"/>
                </a:lnTo>
                <a:lnTo>
                  <a:pt x="9355306" y="9355307"/>
                </a:lnTo>
                <a:lnTo>
                  <a:pt x="0" y="9355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488" y="2530495"/>
            <a:ext cx="5714325" cy="5226010"/>
          </a:xfrm>
          <a:custGeom>
            <a:avLst/>
            <a:gdLst/>
            <a:ahLst/>
            <a:cxnLst/>
            <a:rect r="r" b="b" t="t" l="l"/>
            <a:pathLst>
              <a:path h="5226010" w="5714325">
                <a:moveTo>
                  <a:pt x="0" y="0"/>
                </a:moveTo>
                <a:lnTo>
                  <a:pt x="5714325" y="0"/>
                </a:lnTo>
                <a:lnTo>
                  <a:pt x="5714325" y="5226010"/>
                </a:lnTo>
                <a:lnTo>
                  <a:pt x="0" y="522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79779">
            <a:off x="4754551" y="5340158"/>
            <a:ext cx="2536213" cy="4114800"/>
          </a:xfrm>
          <a:custGeom>
            <a:avLst/>
            <a:gdLst/>
            <a:ahLst/>
            <a:cxnLst/>
            <a:rect r="r" b="b" t="t" l="l"/>
            <a:pathLst>
              <a:path h="4114800" w="2536213">
                <a:moveTo>
                  <a:pt x="0" y="0"/>
                </a:moveTo>
                <a:lnTo>
                  <a:pt x="2536213" y="0"/>
                </a:lnTo>
                <a:lnTo>
                  <a:pt x="25362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73463" y="2079817"/>
            <a:ext cx="642071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Introducción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29353" y="3373817"/>
            <a:ext cx="10958647" cy="333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2"/>
              </a:lnSpc>
            </a:pPr>
            <a:r>
              <a:rPr lang="en-US" sz="2400">
                <a:solidFill>
                  <a:srgbClr val="291B25"/>
                </a:solidFill>
                <a:latin typeface="Montserrat"/>
                <a:ea typeface="Montserrat"/>
                <a:cs typeface="Montserrat"/>
                <a:sym typeface="Montserrat"/>
              </a:rPr>
              <a:t>Los métodos numéricos son técnicas matemáticas utilizadas para aproximar soluciones a problemas que no pueden resolverse fácilmente de manera analítica. En este proyecto se implementaron los métodos de Bisección y Secante mediante un backend en FastAPI y una interfaz gráfica desarrollada con Reflex.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13221" y="6120793"/>
            <a:ext cx="20140619" cy="20140619"/>
          </a:xfrm>
          <a:custGeom>
            <a:avLst/>
            <a:gdLst/>
            <a:ahLst/>
            <a:cxnLst/>
            <a:rect r="r" b="b" t="t" l="l"/>
            <a:pathLst>
              <a:path h="20140619" w="20140619">
                <a:moveTo>
                  <a:pt x="0" y="0"/>
                </a:moveTo>
                <a:lnTo>
                  <a:pt x="20140619" y="0"/>
                </a:lnTo>
                <a:lnTo>
                  <a:pt x="20140619" y="20140619"/>
                </a:lnTo>
                <a:lnTo>
                  <a:pt x="0" y="2014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05446">
            <a:off x="16121613" y="672495"/>
            <a:ext cx="1229433" cy="2315713"/>
          </a:xfrm>
          <a:custGeom>
            <a:avLst/>
            <a:gdLst/>
            <a:ahLst/>
            <a:cxnLst/>
            <a:rect r="r" b="b" t="t" l="l"/>
            <a:pathLst>
              <a:path h="2315713" w="1229433">
                <a:moveTo>
                  <a:pt x="0" y="0"/>
                </a:moveTo>
                <a:lnTo>
                  <a:pt x="1229433" y="0"/>
                </a:lnTo>
                <a:lnTo>
                  <a:pt x="1229433" y="2315713"/>
                </a:lnTo>
                <a:lnTo>
                  <a:pt x="0" y="2315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8943" y="265472"/>
            <a:ext cx="15627387" cy="10287000"/>
          </a:xfrm>
          <a:custGeom>
            <a:avLst/>
            <a:gdLst/>
            <a:ahLst/>
            <a:cxnLst/>
            <a:rect r="r" b="b" t="t" l="l"/>
            <a:pathLst>
              <a:path h="10287000" w="15627387">
                <a:moveTo>
                  <a:pt x="0" y="0"/>
                </a:moveTo>
                <a:lnTo>
                  <a:pt x="15627387" y="0"/>
                </a:lnTo>
                <a:lnTo>
                  <a:pt x="156273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34" t="0" r="-1434" b="-411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5159" y="2508020"/>
            <a:ext cx="11084714" cy="11084714"/>
          </a:xfrm>
          <a:custGeom>
            <a:avLst/>
            <a:gdLst/>
            <a:ahLst/>
            <a:cxnLst/>
            <a:rect r="r" b="b" t="t" l="l"/>
            <a:pathLst>
              <a:path h="11084714" w="11084714">
                <a:moveTo>
                  <a:pt x="0" y="0"/>
                </a:moveTo>
                <a:lnTo>
                  <a:pt x="11084713" y="0"/>
                </a:lnTo>
                <a:lnTo>
                  <a:pt x="11084713" y="11084714"/>
                </a:lnTo>
                <a:lnTo>
                  <a:pt x="0" y="11084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30059" y="425451"/>
            <a:ext cx="11200186" cy="6160102"/>
          </a:xfrm>
          <a:custGeom>
            <a:avLst/>
            <a:gdLst/>
            <a:ahLst/>
            <a:cxnLst/>
            <a:rect r="r" b="b" t="t" l="l"/>
            <a:pathLst>
              <a:path h="6160102" w="11200186">
                <a:moveTo>
                  <a:pt x="0" y="0"/>
                </a:moveTo>
                <a:lnTo>
                  <a:pt x="11200186" y="0"/>
                </a:lnTo>
                <a:lnTo>
                  <a:pt x="11200186" y="6160102"/>
                </a:lnTo>
                <a:lnTo>
                  <a:pt x="0" y="6160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63188" y="6168995"/>
            <a:ext cx="20214376" cy="18413459"/>
          </a:xfrm>
          <a:custGeom>
            <a:avLst/>
            <a:gdLst/>
            <a:ahLst/>
            <a:cxnLst/>
            <a:rect r="r" b="b" t="t" l="l"/>
            <a:pathLst>
              <a:path h="18413459" w="20214376">
                <a:moveTo>
                  <a:pt x="0" y="0"/>
                </a:moveTo>
                <a:lnTo>
                  <a:pt x="20214376" y="0"/>
                </a:lnTo>
                <a:lnTo>
                  <a:pt x="20214376" y="18413459"/>
                </a:lnTo>
                <a:lnTo>
                  <a:pt x="0" y="18413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0584" y="339726"/>
            <a:ext cx="625895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Resultado: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0584" y="7376160"/>
            <a:ext cx="17486832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Al aplicar el método de bisección se obtuvo un coeficiente de arrastre aproximado de (c \approx 14.8125 \text{ kg/s}). El proceso se detuvo en la iteración 6 porque el error aproximado relativo fue (0.422%), menor que el criterio de parada de (0.5%). Al comparar con la raíz verdadera (c = 14.8018 \text{ kg/s}), se obtuvo un error verdadero de apenas (0.219%), lo que demuestra que la aproximación fue bastante precisa. Además, el resultado coincidió con el obtenido en nuestro programa del método de bisección, confirmando que los cálculos y el algoritmo fueron implementados correctamente. Este valor representa el coeficiente necesario para que el objeto alcance una velocidad de (40 \text{ m/s}) a los (10 \text{ s}) de caída.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3415" y="1960630"/>
            <a:ext cx="17821170" cy="5315003"/>
          </a:xfrm>
          <a:custGeom>
            <a:avLst/>
            <a:gdLst/>
            <a:ahLst/>
            <a:cxnLst/>
            <a:rect r="r" b="b" t="t" l="l"/>
            <a:pathLst>
              <a:path h="5315003" w="17821170">
                <a:moveTo>
                  <a:pt x="0" y="0"/>
                </a:moveTo>
                <a:lnTo>
                  <a:pt x="17821170" y="0"/>
                </a:lnTo>
                <a:lnTo>
                  <a:pt x="17821170" y="5315003"/>
                </a:lnTo>
                <a:lnTo>
                  <a:pt x="0" y="5315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93" t="-1434" r="-1747" b="-1434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13860" y="4761806"/>
            <a:ext cx="9355306" cy="9355306"/>
          </a:xfrm>
          <a:custGeom>
            <a:avLst/>
            <a:gdLst/>
            <a:ahLst/>
            <a:cxnLst/>
            <a:rect r="r" b="b" t="t" l="l"/>
            <a:pathLst>
              <a:path h="9355306" w="9355306">
                <a:moveTo>
                  <a:pt x="0" y="0"/>
                </a:moveTo>
                <a:lnTo>
                  <a:pt x="9355306" y="0"/>
                </a:lnTo>
                <a:lnTo>
                  <a:pt x="9355306" y="9355306"/>
                </a:lnTo>
                <a:lnTo>
                  <a:pt x="0" y="9355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63188" y="6521509"/>
            <a:ext cx="19862566" cy="18092992"/>
          </a:xfrm>
          <a:custGeom>
            <a:avLst/>
            <a:gdLst/>
            <a:ahLst/>
            <a:cxnLst/>
            <a:rect r="r" b="b" t="t" l="l"/>
            <a:pathLst>
              <a:path h="18092992" w="19862566">
                <a:moveTo>
                  <a:pt x="0" y="0"/>
                </a:moveTo>
                <a:lnTo>
                  <a:pt x="19862566" y="0"/>
                </a:lnTo>
                <a:lnTo>
                  <a:pt x="19862566" y="18092992"/>
                </a:lnTo>
                <a:lnTo>
                  <a:pt x="0" y="180929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2296" y="1899286"/>
            <a:ext cx="15783409" cy="7359014"/>
          </a:xfrm>
          <a:custGeom>
            <a:avLst/>
            <a:gdLst/>
            <a:ahLst/>
            <a:cxnLst/>
            <a:rect r="r" b="b" t="t" l="l"/>
            <a:pathLst>
              <a:path h="7359014" w="15783409">
                <a:moveTo>
                  <a:pt x="0" y="0"/>
                </a:moveTo>
                <a:lnTo>
                  <a:pt x="15783408" y="0"/>
                </a:lnTo>
                <a:lnTo>
                  <a:pt x="15783408" y="7359014"/>
                </a:lnTo>
                <a:lnTo>
                  <a:pt x="0" y="7359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4560" y="215899"/>
            <a:ext cx="625895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>
                <a:solidFill>
                  <a:srgbClr val="291B25"/>
                </a:solidFill>
                <a:latin typeface="Carelia"/>
                <a:ea typeface="Carelia"/>
                <a:cs typeface="Carelia"/>
                <a:sym typeface="Carelia"/>
              </a:rPr>
              <a:t>Resultado: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282" y="1028700"/>
            <a:ext cx="7827435" cy="7827435"/>
          </a:xfrm>
          <a:custGeom>
            <a:avLst/>
            <a:gdLst/>
            <a:ahLst/>
            <a:cxnLst/>
            <a:rect r="r" b="b" t="t" l="l"/>
            <a:pathLst>
              <a:path h="7827435" w="7827435">
                <a:moveTo>
                  <a:pt x="0" y="0"/>
                </a:moveTo>
                <a:lnTo>
                  <a:pt x="7827436" y="0"/>
                </a:lnTo>
                <a:lnTo>
                  <a:pt x="7827436" y="7827435"/>
                </a:lnTo>
                <a:lnTo>
                  <a:pt x="0" y="7827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63710" y="6778046"/>
            <a:ext cx="4160580" cy="461446"/>
          </a:xfrm>
          <a:custGeom>
            <a:avLst/>
            <a:gdLst/>
            <a:ahLst/>
            <a:cxnLst/>
            <a:rect r="r" b="b" t="t" l="l"/>
            <a:pathLst>
              <a:path h="461446" w="4160580">
                <a:moveTo>
                  <a:pt x="0" y="0"/>
                </a:moveTo>
                <a:lnTo>
                  <a:pt x="4160580" y="0"/>
                </a:lnTo>
                <a:lnTo>
                  <a:pt x="4160580" y="461446"/>
                </a:lnTo>
                <a:lnTo>
                  <a:pt x="0" y="4614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86423">
            <a:off x="-824852" y="5960670"/>
            <a:ext cx="3707104" cy="2096199"/>
          </a:xfrm>
          <a:custGeom>
            <a:avLst/>
            <a:gdLst/>
            <a:ahLst/>
            <a:cxnLst/>
            <a:rect r="r" b="b" t="t" l="l"/>
            <a:pathLst>
              <a:path h="2096199" w="3707104">
                <a:moveTo>
                  <a:pt x="0" y="0"/>
                </a:moveTo>
                <a:lnTo>
                  <a:pt x="3707104" y="0"/>
                </a:lnTo>
                <a:lnTo>
                  <a:pt x="3707104" y="2096199"/>
                </a:lnTo>
                <a:lnTo>
                  <a:pt x="0" y="2096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650626">
            <a:off x="13393263" y="5559703"/>
            <a:ext cx="5784868" cy="5237935"/>
          </a:xfrm>
          <a:custGeom>
            <a:avLst/>
            <a:gdLst/>
            <a:ahLst/>
            <a:cxnLst/>
            <a:rect r="r" b="b" t="t" l="l"/>
            <a:pathLst>
              <a:path h="5237935" w="5784868">
                <a:moveTo>
                  <a:pt x="0" y="0"/>
                </a:moveTo>
                <a:lnTo>
                  <a:pt x="5784868" y="0"/>
                </a:lnTo>
                <a:lnTo>
                  <a:pt x="5784868" y="5237935"/>
                </a:lnTo>
                <a:lnTo>
                  <a:pt x="0" y="52379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7366" y="6908613"/>
            <a:ext cx="4039985" cy="4114800"/>
          </a:xfrm>
          <a:custGeom>
            <a:avLst/>
            <a:gdLst/>
            <a:ahLst/>
            <a:cxnLst/>
            <a:rect r="r" b="b" t="t" l="l"/>
            <a:pathLst>
              <a:path h="4114800" w="4039985">
                <a:moveTo>
                  <a:pt x="0" y="0"/>
                </a:moveTo>
                <a:lnTo>
                  <a:pt x="4039985" y="0"/>
                </a:lnTo>
                <a:lnTo>
                  <a:pt x="40399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79570" y="1742504"/>
            <a:ext cx="4887290" cy="4665141"/>
          </a:xfrm>
          <a:custGeom>
            <a:avLst/>
            <a:gdLst/>
            <a:ahLst/>
            <a:cxnLst/>
            <a:rect r="r" b="b" t="t" l="l"/>
            <a:pathLst>
              <a:path h="4665141" w="4887290">
                <a:moveTo>
                  <a:pt x="0" y="0"/>
                </a:moveTo>
                <a:lnTo>
                  <a:pt x="4887290" y="0"/>
                </a:lnTo>
                <a:lnTo>
                  <a:pt x="4887290" y="4665141"/>
                </a:lnTo>
                <a:lnTo>
                  <a:pt x="0" y="46651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5671">
            <a:off x="-1497126" y="1833423"/>
            <a:ext cx="5051652" cy="4114800"/>
          </a:xfrm>
          <a:custGeom>
            <a:avLst/>
            <a:gdLst/>
            <a:ahLst/>
            <a:cxnLst/>
            <a:rect r="r" b="b" t="t" l="l"/>
            <a:pathLst>
              <a:path h="4114800" w="5051652">
                <a:moveTo>
                  <a:pt x="0" y="0"/>
                </a:moveTo>
                <a:lnTo>
                  <a:pt x="5051652" y="0"/>
                </a:lnTo>
                <a:lnTo>
                  <a:pt x="5051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97394" y="4341775"/>
            <a:ext cx="9893213" cy="1467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63"/>
              </a:lnSpc>
            </a:pPr>
            <a:r>
              <a:rPr lang="en-US" sz="11435" spc="-194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Gracias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63710" y="7376554"/>
            <a:ext cx="416058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hola@unsitiogenial.es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DAHI8d2mXOY</dc:identifier>
  <dcterms:modified xsi:type="dcterms:W3CDTF">2011-08-01T06:04:30Z</dcterms:modified>
  <cp:revision>1</cp:revision>
  <dc:title>Presentación Proyecto Desarrollo Tecnológico Ilustrado Verde y Beige</dc:title>
</cp:coreProperties>
</file>